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E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F1E33"/>
                </a:solidFill>
                <a:latin typeface="Cambria"/>
              </a:rPr>
              <a:t>Profit factor before and after the outlier check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factor</c:v>
                </c:pt>
              </c:strCache>
            </c:strRef>
          </c:tx>
          <c:spPr>
            <a:solidFill>
              <a:srgbClr val="0F1E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E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3A3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All 20 trades</c:v>
                  </c:pt>
                  <c:pt idx="1">
                    <c:v>Top 2 trades removed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1.93</c:v>
                </c:pt>
                <c:pt idx="1">
                  <c:v>1.02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0F1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8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0"/>
        <c:axPos val="l"/>
        <c:majorGridlines>
          <c:spPr>
            <a:ln w="9525" cap="flat">
              <a:solidFill>
                <a:srgbClr val="C9D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D2DEE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D2DEEA"/>
                </a:solidFill>
                <a:latin typeface="Cambria"/>
              </a:rPr>
              <a:t>Annualised return: V1 vs. simply holding stablecoins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return</c:v>
                </c:pt>
              </c:strCache>
            </c:strRef>
          </c:tx>
          <c:spPr>
            <a:solidFill>
              <a:srgbClr val="B23A3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3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7C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A6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V1 strategy
(1% risk, CAGR)</c:v>
                  </c:pt>
                  <c:pt idx="1">
                    <c:v>Stablecoin lending
(low end)</c:v>
                  </c:pt>
                  <c:pt idx="2">
                    <c:v>Stablecoin lending
(high end)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</c:v>
                </c:pt>
                <c:pt idx="1">
                  <c:v>3</c:v>
                </c:pt>
                <c:pt idx="2">
                  <c:v>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6D3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9525" cap="flat">
              <a:solidFill>
                <a:srgbClr val="2C43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93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E33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1E33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0F1E33"/>
                </a:solidFill>
                <a:latin typeface="Cambria"/>
              </a:rPr>
              <a:t>Evidence-based stop-width correction (total profit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%</c:v>
                </c:pt>
              </c:strCache>
            </c:strRef>
          </c:tx>
          <c:spPr>
            <a:solidFill>
              <a:srgbClr val="B23A3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3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E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2.0× ATR (original)</c:v>
                  </c:pt>
                  <c:pt idx="1">
                    <c:v>2.5× ATR</c:v>
                  </c:pt>
                  <c:pt idx="2">
                    <c:v>3.0× ATR (adopted)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-16.27</c:v>
                </c:pt>
                <c:pt idx="1">
                  <c:v>-5.48</c:v>
                </c:pt>
                <c:pt idx="2">
                  <c:v>2.78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8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9D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E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F1E33"/>
                </a:solidFill>
                <a:latin typeface="Cambria"/>
              </a:rPr>
              <a:t>The same outlier check, applied to V2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factor</c:v>
                </c:pt>
              </c:strCache>
            </c:strRef>
          </c:tx>
          <c:spPr>
            <a:solidFill>
              <a:srgbClr val="0F1E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E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3A3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All 112 trades</c:v>
                  </c:pt>
                  <c:pt idx="1">
                    <c:v>Top 5 trades removed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1.58</c:v>
                </c:pt>
                <c:pt idx="1">
                  <c:v>1.12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0F1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8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9525" cap="flat">
              <a:solidFill>
                <a:srgbClr val="C9D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builds an automated crypto trading bot as the engine for a future hosted SaaS service. Two independent strategy versions were built and validated. Everything reported is backtest or paper-trading; no real capital has ever been risked.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strong engineering, honest validation, unproven edge. The deck is structured around that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SaaS model is the reason the project exists; the GPLv3 reasoning is a genuine design decision,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the same for both versions; only the timeframe, indicators and informative-pair use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8-pair failure is the key discipline story: the negative result was accepted and the design reverted, rather than quietly dropping the pairs that did not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honesty slide. Comparing the strategy to a risk-free-ish alternative is what reframed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stop was not tuned by search: a diagnostic identified the cause, and a three-way comparison confirmed the fix. Candidate B's wider stops were tested the same way and did not rescue it — expected return stayed negative at every width (−5.27% to −4.44%), because the entry logic itself was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discipline, not on a claim. The honest position is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097280" y="3931920"/>
            <a:ext cx="6583680" cy="6583680"/>
          </a:xfrm>
          <a:prstGeom prst="roundRect">
            <a:avLst>
              <a:gd name="adj" fmla="val 6944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4  |  PROPRIETARY SAAS TRADING SYSTEM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Crypto Trading Bot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validating and honestly evaluating a rules-based trading system — from custom prototype to two independent Freqtrade strategies in paper trading.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2743200" cy="0"/>
          </a:xfrm>
          <a:prstGeom prst="line">
            <a:avLst/>
          </a:prstGeom>
          <a:noFill/>
          <a:ln w="25400">
            <a:solidFill>
              <a:srgbClr val="D98E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Dheeraj Chaudhari</a:t>
            </a:r>
            <a:pPr indent="0" marL="0">
              <a:buNone/>
            </a:pPr>
            <a:r>
              <a:rPr lang="en-US" sz="1300" dirty="0">
                <a:solidFill>
                  <a:srgbClr val="93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Reg. No. 25221114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Durgansh Sharma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crypto (BTC/USDT, ETH/USDT)  ·  Binance  ·  Freqtrade (GPLv3)  ·  No real capital deployed at any point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 — and what the evidence actually says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fully independent, risk-managed trading systems were built on Freqtrade and validated under one consistent methodology. The engineering works. The trading edge is not yet proven.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938528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505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versions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74320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daily trend · V2 4h breakout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938528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505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orders placed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74320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+ dry-run only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9904" y="182880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938528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505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p-value (V2)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74320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(p&lt;0.05) not reached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60536" y="1828800"/>
            <a:ext cx="2779776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88552" y="193852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132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988552" y="250545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finding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988552" y="27432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that carry most of the return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&amp; risk controls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tested, and verified end-to-end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track record (V1)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dry-run running; no completed trade yet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Statistically credible trading 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demonstrated by either 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readiness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not claimed — the bar is not met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7726680" y="3429000"/>
            <a:ext cx="3913632" cy="2331720"/>
          </a:xfrm>
          <a:prstGeom prst="roundRect">
            <a:avLst>
              <a:gd name="adj" fmla="val 3137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3611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working principle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977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honest, evidence-based result is more valuable than an optimistic one. Every negative and inconclusive finding in this project is reported — the 8-pair failure, Candidate B's retirement, and the outlier concentration shared by both versions.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backtest or dry-run results. None represent real-capital performance.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it, and how it would ever be sold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crypto trading is time-intensive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driven and inconsistent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 applied unevenly, if at all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rules-based system is only defensible if its edge is demonstrated, not assumed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258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delivery model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runs the bot on their own infrastructure; clients buy access to its results, never the software.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4505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Freqtrade (GPLv3) is never distributed, the strategy code — the actual commercial asset — need not be released. A deliberate, licence-reviewed choice.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83296" y="1325880"/>
            <a:ext cx="3557016" cy="2148840"/>
          </a:xfrm>
          <a:prstGeom prst="roundRect">
            <a:avLst>
              <a:gd name="adj" fmla="val 3404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11896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users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11896" y="1828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only. No client-facing interface has been built — a deliberate sequencing decision. Client infrastructure is not designed until the strategy earns it.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03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 set at the outset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" y="4334256"/>
            <a:ext cx="457200" cy="457200"/>
          </a:xfrm>
          <a:prstGeom prst="ellipse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4443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a proven framework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572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custom infrastructure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15968" y="4114800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2272" y="4334256"/>
            <a:ext cx="457200" cy="457200"/>
          </a:xfrm>
          <a:prstGeom prst="ellipse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62272" y="4443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strategy rationale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572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arbitrary indicator mix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83296" y="4114800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4334256"/>
            <a:ext cx="457200" cy="457200"/>
          </a:xfrm>
          <a:prstGeom prst="ellipse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443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96528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validation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96528" y="4572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Backtest, significance, out-of-sample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138928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" y="5358384"/>
            <a:ext cx="457200" cy="457200"/>
          </a:xfrm>
          <a:prstGeom prst="ellipse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" y="54681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5312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risk controls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261872" y="5596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Sizing, stops, circuit breakers, kill switch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15968" y="5138928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2272" y="5358384"/>
            <a:ext cx="457200" cy="457200"/>
          </a:xfrm>
          <a:prstGeom prst="ellipse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62272" y="54681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5312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Paper-trade on live data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5596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real capital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83296" y="5138928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5358384"/>
            <a:ext cx="457200" cy="457200"/>
          </a:xfrm>
          <a:prstGeom prst="ellipse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0" y="54681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796528" y="5312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viability honestly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796528" y="5596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client-facing launch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spot only — no margin, futures, leverage or short selling.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executed on every candle close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70048" cy="2514600"/>
          </a:xfrm>
          <a:prstGeom prst="roundRect">
            <a:avLst>
              <a:gd name="adj" fmla="val 2909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REST API via ccxt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→ pandas, UTC-normalised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calculation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2377440"/>
            <a:ext cx="201168" cy="384048"/>
          </a:xfrm>
          <a:prstGeom prst="chevron">
            <a:avLst/>
          </a:prstGeom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38144" y="1371600"/>
            <a:ext cx="2670048" cy="2514600"/>
          </a:xfrm>
          <a:prstGeom prst="roundRect">
            <a:avLst>
              <a:gd name="adj" fmla="val 2909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144" y="1371600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2736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DECISION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192024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conditions (ALL must be true)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Protections check — can veto a valid signal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sizing: 1% equity, ATR-scaled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7336" y="2377440"/>
            <a:ext cx="201168" cy="384048"/>
          </a:xfrm>
          <a:prstGeom prst="chevron">
            <a:avLst/>
          </a:prstGeom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371600"/>
            <a:ext cx="2670048" cy="2514600"/>
          </a:xfrm>
          <a:prstGeom prst="roundRect">
            <a:avLst>
              <a:gd name="adj" fmla="val 2909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371600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44586E"/>
          </a:solidFill>
          <a:ln w="12700">
            <a:solidFill>
              <a:srgbClr val="4458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192024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 — simulated only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stop recalculated every candle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signal reversal OR stop, first wins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06840" y="2377440"/>
            <a:ext cx="201168" cy="384048"/>
          </a:xfrm>
          <a:prstGeom prst="chevron">
            <a:avLst/>
          </a:prstGeom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17152" y="1371600"/>
            <a:ext cx="2670048" cy="2514600"/>
          </a:xfrm>
          <a:prstGeom prst="roundRect">
            <a:avLst>
              <a:gd name="adj" fmla="val 2909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1371600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81744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400032" y="192024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trade database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log file (capped disk)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FreqUI dashboard + Telegram alerts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notes that matter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2628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requires pre-downloaded historical data — Freqtrade's engine has no live-data mode (verified against its documentation).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and live modes backfill automatically from the exchange at startup; no manual download step.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cached on disk as Feather (V2) or CSV (V1 legacy), enriched with indicator columns before any strategy logic runs.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4160520"/>
            <a:ext cx="5148072" cy="1828800"/>
          </a:xfrm>
          <a:prstGeom prst="roundRect">
            <a:avLst>
              <a:gd name="adj" fmla="val 4000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execution boundary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466344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above is implemented and verified — except one. Order creation stops at a simulated fill. No real exchange order has ever been placed, in any version, at any point in this project.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decision code runs in backtest, dry-run and (eventually) live — only execution differs.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components only — nothing unearned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Freqtrade (Python, GPLv3)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backtesting, execution, dry-run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connectivity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Binance API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pandas_ta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OHLCV handling and indicators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history, open positions, restart-safe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data cache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Feather (V2) / CSV (V1)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OHLCV for backtesting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/ Docker Compose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Isolated, reproducible 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 Bot API, REST API + FreqUI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Alerts, status commands, kill switch (V1)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325880"/>
            <a:ext cx="3913632" cy="2240280"/>
          </a:xfrm>
          <a:prstGeom prst="roundRect">
            <a:avLst>
              <a:gd name="adj" fmla="val 3265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Freqtrade, not a custom build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82880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data-pipeline and execution modules were prototyped first, then archived. Freqtrade already provides tested exchange-rule handling, order management, fee-accurate backtesting and dry-run — all of which would otherwise have to be built and independently verified.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26680" y="3703320"/>
            <a:ext cx="3913632" cy="2286000"/>
          </a:xfrm>
          <a:prstGeom prst="roundRect">
            <a:avLst>
              <a:gd name="adj" fmla="val 3200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3858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absent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224528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 learning framework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infrastructure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client-facing web framework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i="1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technologies actually integrated and verified are listed.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92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strategy files are archived, never deleted — V1 retains the original pre-Freqtrade build; V2 retains its discarded stop variants and the retired RSI strategy.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and V2 are fully isolated: V2 never references a V1 file by path; anything reused is copied in first.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built before returns were chased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164592" cy="164592"/>
          </a:xfrm>
          <a:prstGeom prst="ellipse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Fixed-fractional sizing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013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equity risked per trade, computed from each trade's stop distance — not a flat position size.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527048"/>
            <a:ext cx="164592" cy="164592"/>
          </a:xfrm>
          <a:prstGeom prst="ellipse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ATR-based stops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8013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stop distance adapts to each asset's current volatility rather than a fixed percentage.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325880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76" y="1527048"/>
            <a:ext cx="164592" cy="164592"/>
          </a:xfrm>
          <a:prstGeom prst="ellipse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0496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floor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540496" y="18013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 fixed backstop, used only if ATR is ever unavailable.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898648"/>
            <a:ext cx="164592" cy="164592"/>
          </a:xfrm>
          <a:prstGeom prst="ellipse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2852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1729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MaxDrawdown and StoplossGuard protections halt trading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5968" y="2697480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98848" y="2898648"/>
            <a:ext cx="164592" cy="164592"/>
          </a:xfrm>
          <a:prstGeom prst="ellipse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3168" y="2852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cap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31729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 open positions — one per pair. Long only; spot cannot short.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3296" y="2697480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6176" y="2898648"/>
            <a:ext cx="164592" cy="164592"/>
          </a:xfrm>
          <a:prstGeom prst="ellipse">
            <a:avLst/>
          </a:prstGeom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0496" y="2852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kill switch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40496" y="31729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stop + force-exit, Telegram-accessible. V1 only — not yet configured for V2.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206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gaps, stated openly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03120"/>
                <a:gridCol w="5148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Cross-pair correlation-aware exposure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implemented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guards used as a substitute; flagged as a known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take-profit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implemented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 — exits are signal-driven or stop-driven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Real-capital exposure limits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8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 capital has been risked at any 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· THE FOUNDATION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Daily-candle trend following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candles (1d)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EMA(20) crosses above EMA(50)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filter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must be above SMA(200)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EMA(20) crosses back below EMA(50)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Stop-loss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ATR(14) trailing stop (custom_stoploss)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floor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−10%, backstop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Take-profit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Effectively disabled — exits are signal/stop-driven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sizing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 equity risk per trade, ATR-scaled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325880"/>
            <a:ext cx="4919472" cy="2194560"/>
          </a:xfrm>
          <a:prstGeom prst="roundRect">
            <a:avLst>
              <a:gd name="adj" fmla="val 3333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481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logic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8288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fast/slow moving-average cross requires a genuine multi-week price shift, not a single strong day — it identifies a sustained change in trend rather than noise.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54203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SMA(200) filter was added only after diagnosing that the raw crossover lost money in choppy markets. When tested, it improved profit, win rate, profit factor and drawdown simultaneously.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20840" y="3703320"/>
            <a:ext cx="4919472" cy="2286000"/>
          </a:xfrm>
          <a:prstGeom prst="roundRect">
            <a:avLst>
              <a:gd name="adj" fmla="val 3200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3858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filter that was rejected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42062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same-day ATR volatility filter was tested and discarded: it collapsed the sample size without a proven benefit. That failure mode — a filter that shrinks the data rather than improving the edge — became the test every later filter had to pass.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292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Mechanically, it did what it was designed to do: the strategy correctly stayed out of the worst of both the 2018 and 2022 crashes.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BTC/USDT and ETH/USDT. Long only.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· VALIDATION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tests, including the ones that failed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72184"/>
            <a:ext cx="164592" cy="164592"/>
          </a:xfrm>
          <a:prstGeom prst="ellipse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design test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426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2021-01 → 2024-06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4264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SMA200 filter improved profit, win rate, profit factor and drawdown at once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075688"/>
            <a:ext cx="164592" cy="164592"/>
          </a:xfrm>
          <a:prstGeom prst="ellipse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test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2024-07 → 2026-09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0299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held up on data the design was never tuned against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679192"/>
            <a:ext cx="164592" cy="164592"/>
          </a:xfrm>
          <a:prstGeom prst="ellipse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bear-market test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 → 2021-01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26334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strategy flat through most of the 2018 crash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282696"/>
            <a:ext cx="164592" cy="164592"/>
          </a:xfrm>
          <a:prstGeom prst="ellipse">
            <a:avLst/>
          </a:prstGeom>
          <a:solidFill>
            <a:srgbClr val="B23A36"/>
          </a:solidFill>
          <a:ln w="12700">
            <a:solidFill>
              <a:srgbClr val="B23A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8-pair expansion test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3236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2017-01 → 2026-09, 8 coins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323697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to generalise — edge is specific to BTC/ETH; reverted to 2 pairs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12464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886200"/>
            <a:ext cx="164592" cy="164592"/>
          </a:xfrm>
          <a:prstGeom prst="ellipse">
            <a:avLst/>
          </a:prstGeom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Full-history concatenated run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2017-08 → 2026-09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38404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trades, p = 0.235, profit factor 2.69 — before a stake-sizing bug was found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15968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489704"/>
            <a:ext cx="164592" cy="164592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4443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risk-sized run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794760" y="4443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period, 1% risk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897880" y="444398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4.00%, max drawdown 2.44%, profit factor 1.93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919472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093208"/>
            <a:ext cx="164592" cy="164592"/>
          </a:xfrm>
          <a:prstGeom prst="ellipse">
            <a:avLst/>
          </a:prstGeom>
          <a:solidFill>
            <a:srgbClr val="B23A36"/>
          </a:solidFill>
          <a:ln w="12700">
            <a:solidFill>
              <a:srgbClr val="B23A3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5047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concentration check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794760" y="5047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trades removed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504748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18 trades: profit factor 1.02, Sharpe 0.013 — flat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522976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" y="5696712"/>
            <a:ext cx="164592" cy="164592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05840" y="5650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sensitivity scan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3794760" y="5650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→ 5.0% risk/trade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897880" y="56509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and drawdown scale roughly linearly; conclusion unchanged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confirmed · Amber = superseded by a correction · Red = negative finding, reported and acted on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·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positive headline that does not survive an outlier check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validated backtest · BTC/USDT + ETH/USDT · 2017-08 to 2026-09 · 1% equity risk per trade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6824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24942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48716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per year, both pairs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62072" y="157276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0088" y="16824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990088" y="224942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48716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0.43% CAGR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75504" y="157276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16824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2.44%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24942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48716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2.91% wallet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88936" y="1572768"/>
            <a:ext cx="205740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16952" y="1682496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45.0%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616952" y="224942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10928" y="1572768"/>
            <a:ext cx="1929384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38944" y="1682496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838944" y="224942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Mean-profit p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838944" y="248716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48640" y="3154680"/>
          <a:ext cx="54864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6400800" y="3154680"/>
            <a:ext cx="5239512" cy="2788920"/>
          </a:xfrm>
          <a:prstGeom prst="roundRect">
            <a:avLst>
              <a:gd name="adj" fmla="val 2623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2940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 that matters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629400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twenty trades — both from the 2021 ETH rally — account for most of the entire return.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629400" y="42062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them out and the remaining 18 trades produce a profit factor of 1.02 and a Sharpe of 0.013 — statistically indistinguishable from breakeven.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629400" y="4983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status: live and running. No completed trade yet at the time of writing — which is expected at roughly two trades per year, and is itself a business problem.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result. Not real-capital performance.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POINT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that changed the project's direction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828800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V1's properly risk-sized return is roughly 0.43% CAGR. Stablecoin lending yielded an independently verified 3–8% APY at the time of analysis — with materially lower complexity and no market-timing risk.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0" y="3154680"/>
            <a:ext cx="4782312" cy="1234440"/>
          </a:xfrm>
          <a:prstGeom prst="roundRect">
            <a:avLst>
              <a:gd name="adj" fmla="val 5926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86600" y="333756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V1, as currently validated, does not clearly outperform a safer, simpler alternative.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572000"/>
            <a:ext cx="4782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treated as a central business finding, not a minor caveat. Combined with a trade frequency of only ~2 per year — and a tested 8-pair expansion that failed — it directly triggered the decision to build a second, structurally different strategy rather than proceed toward client deployment on V1.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· A DIFFERENT MECHANISM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candidates, narrowed by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A — Donchian breakout  ·  SELECTED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candles. Close breaks above the 20-period high by ≥0.5×ATR, confirmed by close not wick, with above-average volume and price above the daily EMA(200) via an informative pair. Exit on a break below the 10-period low — a deliberately faster, asymmetric exit channel.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B — RSI(14) mean reversion  ·  RETIRED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6499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recovers from below 30, same daily EMA(200) filter, exit on RSI above 60, 1.5×ATR stop. Result: −12.39% over 126 trades, with 100% of exits triggered by the stop and none by the intended signal — trades were stopped out in an average of 19 hours.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622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candidates were specified — deliberately — to avoid the statistical risk of testing many variants against the same limited market history.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263640" y="1325880"/>
          <a:ext cx="537667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526280"/>
          <a:ext cx="5376672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960120"/>
                <a:gridCol w="105156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factor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 ATR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2.5× ATR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3.0× ATR (adopted)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MFE/MAE analysis showed 70.9% of losing trades would have recovered within 10 candles with a wider stop. Widening stopped at 3.0× — not searched further.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·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result — and the same structural flaw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 (3.0×ATR) tested on 2017-08 to 2021-01 — a period never used in the stop-correction analysis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6824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24942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48716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 for V1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62072" y="157276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0088" y="16824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10.12%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990088" y="224942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48716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75504" y="1572768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16824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51.8%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24942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48716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factor 1.58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88936" y="1572768"/>
            <a:ext cx="2057400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16952" y="1682496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616952" y="224942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10928" y="1572768"/>
            <a:ext cx="1929384" cy="1298448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38944" y="1682496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0.086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838944" y="224942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Mean-profit p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838944" y="248716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 project; still &gt;0.05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48640" y="3154680"/>
          <a:ext cx="51206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6035040" y="3154680"/>
            <a:ext cx="5605272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3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shared, structural pattern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611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winning trades — just 4.5% of all trades — contributed roughly 79% of total profit. The remaining 107 trades returned a mean of 0.194% per trade, close to breakeven. The same concentration seen in V1, on a completely different mechanism.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4617720"/>
            <a:ext cx="5605272" cy="1325880"/>
          </a:xfrm>
          <a:prstGeom prst="roundRect">
            <a:avLst>
              <a:gd name="adj" fmla="val 5517"/>
            </a:avLst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63640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question: path dependence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2 trading slots against 362 raw signals, which signals become real trades depends on processing order — and therefore on position size. Position-sized runs produced 102 trades vs 196 for a fixed stake. Sensitivity testing from 5 staggered start dates was still running at the time of the report.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result. V2 has not yet been deployed to dry-run.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VS V2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mechanisms, one shared limitation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23160"/>
                <a:gridCol w="2651760"/>
                <a:gridCol w="418795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— daily trend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— 4h breakout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for the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candles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4-hour candles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frequency without execution-speed-sensitive scalping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 crossover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Donchian channel breakout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Genuinely different, not a faster version of the same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SMA(200), same timeframe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EMA(200) via informative pair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Higher-timeframe confirmation is documented best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Stop-loss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 ATR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3.0× ATR (evidence-corrected)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Appropriate stop distance differs by 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~35–50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addresses V1's low-frequency business 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0.235 (20 trades)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0.086 (112 trades)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sample, stronger — still not conventionally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concentration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20 = most of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112 ≈ 79% of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pattern in both — appears mechanism-independent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dry-run, ongoing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Finalised; dry-run 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is earlier in its validation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of superiority is made for either version. V2 has the larger validated sample and the stronger statistical result, but has not been deployed to dry-run and carries an unresolved path-dependence question that V1 does not.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HYGIENE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these numbers are — and what they are not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291840"/>
                <a:gridCol w="29535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 (paper trading)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trading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Historical, downloaded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Real-time,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Real-time,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— same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— identical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Simulated, 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Simulated, against real prices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at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never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Extensively, both versions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ongoing; V2 not yet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defects found and fixed by verification, not assumption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224528"/>
            <a:ext cx="5431536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4352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4334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log-rotation failure (V1)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207008" y="460857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--logfile was ignored under docker compose run; logs grew unbounded. Fixed and verified against the rotating handler (~11MB cap).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81344" y="4224528"/>
            <a:ext cx="5431536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4352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39712" y="4334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data-feed bug (V1)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39712" y="460857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 continued after a disconnect while no market data arrived. Confirmed a known upstream defect; forced REST polling instead.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276088"/>
            <a:ext cx="5431536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" y="5404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207008" y="5385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Position-sizing signature mismatch (V2)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566013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TypeError was silently swallowed, so every trade used a flat 100 USDT fallback stake. Caught by checking stakes actually varied.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81344" y="5276088"/>
            <a:ext cx="5431536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45936" y="5404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39712" y="5385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Path-dependent signal selection (V2)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39712" y="566013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open. Root cause confirmed by source inspection; 89 shared trades had byte-identical exit dates, ruling out logic changes.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model exchange fees but not slippage — disclosed as a limitation, not presented as a complete cost model.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ROADMAP &amp; VERDICT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well-built research platform. Not yet a product.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falls short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version reaches p &lt; 0.05 in any test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the same outlier concentration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V1's ~2 trades/year is not a commercial product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V2's path-dependence is confirmed but unquantified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non-redundant local machine; no slippage model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BTC/ETH history since 2017 is now used up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model fees but not slippage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0116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V2 path-dependence sensitivity analysis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V2 to dry-run with its own kill switch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explicit pass/fail criteria for V2, as V1 has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Re-judge V1 against real dry-run results, not projections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credible edge emerges: reposition as a downside-protection service — the use the data supports better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client-facing layer only once the strategy has earned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595360" y="1600200"/>
            <a:ext cx="3044952" cy="3886200"/>
          </a:xfrm>
          <a:prstGeom prst="roundRect">
            <a:avLst>
              <a:gd name="adj" fmla="val 2402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239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823960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properly engineered systems, validated by one consistent and honestly reported methodology.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23960" y="29718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promising result was stress-tested for outlier concentration and out-of-sample robustness before it was trusted. Negative findings were acted on, not minimised.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42062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yet a proven, commercially ready trading product — and has deliberately not been presented as one.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32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7E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explicitly not recommended at this stage: an inability to reach significance with 3–4 simple, well-understood parameters suggests a higher-parameter approach would add overfitting risk on the same limited data, not benefit.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2026-09-18T04:59:48Z</dcterms:created>
  <dcterms:modified xsi:type="dcterms:W3CDTF">2026-09-18T04:59:48Z</dcterms:modified>
</cp:coreProperties>
</file>